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2" r:id="rId1"/>
  </p:sldMasterIdLst>
  <p:sldIdLst>
    <p:sldId id="256" r:id="rId2"/>
    <p:sldId id="258" r:id="rId3"/>
    <p:sldId id="259" r:id="rId4"/>
    <p:sldId id="260" r:id="rId5"/>
    <p:sldId id="261" r:id="rId6"/>
    <p:sldId id="264" r:id="rId7"/>
    <p:sldId id="266" r:id="rId8"/>
    <p:sldId id="262" r:id="rId9"/>
    <p:sldId id="263" r:id="rId10"/>
    <p:sldId id="265" r:id="rId11"/>
    <p:sldId id="267" r:id="rId12"/>
    <p:sldId id="275" r:id="rId13"/>
    <p:sldId id="276" r:id="rId14"/>
    <p:sldId id="257" r:id="rId15"/>
    <p:sldId id="268" r:id="rId16"/>
    <p:sldId id="269" r:id="rId17"/>
    <p:sldId id="270" r:id="rId18"/>
    <p:sldId id="271" r:id="rId19"/>
    <p:sldId id="272" r:id="rId20"/>
    <p:sldId id="274" r:id="rId21"/>
    <p:sldId id="273"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635"/>
  </p:normalViewPr>
  <p:slideViewPr>
    <p:cSldViewPr snapToGrid="0">
      <p:cViewPr varScale="1">
        <p:scale>
          <a:sx n="120" d="100"/>
          <a:sy n="120" d="100"/>
        </p:scale>
        <p:origin x="1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BAD8AE8-9899-F346-A170-2D0536D50BF5}" type="datetimeFigureOut">
              <a:rPr lang="en-US" smtClean="0"/>
              <a:t>4/26/26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14447688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AD8AE8-9899-F346-A170-2D0536D50BF5}"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3057064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AD8AE8-9899-F346-A170-2D0536D50BF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142979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AD8AE8-9899-F346-A170-2D0536D50BF5}"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108871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AD8AE8-9899-F346-A170-2D0536D50BF5}" type="datetimeFigureOut">
              <a:rPr lang="en-US" smtClean="0"/>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202167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AD8AE8-9899-F346-A170-2D0536D50BF5}" type="datetimeFigureOut">
              <a:rPr lang="en-US" smtClean="0"/>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4109591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BAD8AE8-9899-F346-A170-2D0536D50BF5}" type="datetimeFigureOut">
              <a:rPr lang="en-US" smtClean="0"/>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60584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AD8AE8-9899-F346-A170-2D0536D50BF5}"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2499713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AD8AE8-9899-F346-A170-2D0536D50BF5}"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1331484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AD8AE8-9899-F346-A170-2D0536D50BF5}"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5006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AD8AE8-9899-F346-A170-2D0536D50BF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3872704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AD8AE8-9899-F346-A170-2D0536D50BF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1231717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AD8AE8-9899-F346-A170-2D0536D50BF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3897555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AD8AE8-9899-F346-A170-2D0536D50BF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14933021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AD8AE8-9899-F346-A170-2D0536D50BF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3429233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AD8AE8-9899-F346-A170-2D0536D50BF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604008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AD8AE8-9899-F346-A170-2D0536D50BF5}"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BB53-F025-D54C-89BF-2B12E270536F}" type="slidenum">
              <a:rPr lang="en-US" smtClean="0"/>
              <a:t>‹#›</a:t>
            </a:fld>
            <a:endParaRPr lang="en-US"/>
          </a:p>
        </p:txBody>
      </p:sp>
    </p:spTree>
    <p:extLst>
      <p:ext uri="{BB962C8B-B14F-4D97-AF65-F5344CB8AC3E}">
        <p14:creationId xmlns:p14="http://schemas.microsoft.com/office/powerpoint/2010/main" val="2710075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BAD8AE8-9899-F346-A170-2D0536D50BF5}" type="datetimeFigureOut">
              <a:rPr lang="en-US" smtClean="0"/>
              <a:t>4/26/26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687BB53-F025-D54C-89BF-2B12E270536F}" type="slidenum">
              <a:rPr lang="en-US" smtClean="0"/>
              <a:t>‹#›</a:t>
            </a:fld>
            <a:endParaRPr lang="en-US"/>
          </a:p>
        </p:txBody>
      </p:sp>
    </p:spTree>
    <p:extLst>
      <p:ext uri="{BB962C8B-B14F-4D97-AF65-F5344CB8AC3E}">
        <p14:creationId xmlns:p14="http://schemas.microsoft.com/office/powerpoint/2010/main" val="2484078866"/>
      </p:ext>
    </p:extLst>
  </p:cSld>
  <p:clrMap bg1="dk1" tx1="lt1" bg2="dk2" tx2="lt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 id="2147484007" r:id="rId5"/>
    <p:sldLayoutId id="2147484008" r:id="rId6"/>
    <p:sldLayoutId id="2147484009" r:id="rId7"/>
    <p:sldLayoutId id="2147484010" r:id="rId8"/>
    <p:sldLayoutId id="2147484011" r:id="rId9"/>
    <p:sldLayoutId id="2147484012" r:id="rId10"/>
    <p:sldLayoutId id="2147484013" r:id="rId11"/>
    <p:sldLayoutId id="2147484014" r:id="rId12"/>
    <p:sldLayoutId id="2147484015" r:id="rId13"/>
    <p:sldLayoutId id="2147484016" r:id="rId14"/>
    <p:sldLayoutId id="2147484017" r:id="rId15"/>
    <p:sldLayoutId id="2147484018" r:id="rId16"/>
    <p:sldLayoutId id="214748401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kaggle.com/datasets/boltzmannbrain/nab" TargetMode="External"/><Relationship Id="rId2" Type="http://schemas.openxmlformats.org/officeDocument/2006/relationships/hyperlink" Target="https://www.kaggle.com/datasets/patrickfleith/nasa-anomaly-detection-dataset-smap-ms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11B95-A1E5-7F7D-F782-1B8BF93427BA}"/>
              </a:ext>
            </a:extLst>
          </p:cNvPr>
          <p:cNvSpPr>
            <a:spLocks noGrp="1"/>
          </p:cNvSpPr>
          <p:nvPr>
            <p:ph type="ctrTitle"/>
          </p:nvPr>
        </p:nvSpPr>
        <p:spPr>
          <a:xfrm>
            <a:off x="4859080" y="1933690"/>
            <a:ext cx="6814952" cy="1495310"/>
          </a:xfrm>
        </p:spPr>
        <p:txBody>
          <a:bodyPr>
            <a:normAutofit fontScale="90000"/>
          </a:bodyPr>
          <a:lstStyle/>
          <a:p>
            <a:r>
              <a:rPr lang="en-US" sz="3200" dirty="0">
                <a:latin typeface="Baskerville Old Face" panose="02020602080505020303" pitchFamily="18" charset="77"/>
                <a:cs typeface="Times New Roman" panose="02020603050405020304" pitchFamily="18" charset="0"/>
              </a:rPr>
              <a:t>Time series anomaly detection using </a:t>
            </a:r>
            <a:r>
              <a:rPr lang="en-US" sz="3200" dirty="0" err="1">
                <a:latin typeface="Baskerville Old Face" panose="02020602080505020303" pitchFamily="18" charset="77"/>
                <a:cs typeface="Times New Roman" panose="02020603050405020304" pitchFamily="18" charset="0"/>
              </a:rPr>
              <a:t>tfad</a:t>
            </a:r>
            <a:r>
              <a:rPr lang="en-US" sz="3200" dirty="0">
                <a:latin typeface="Baskerville Old Face" panose="02020602080505020303" pitchFamily="18" charset="77"/>
                <a:cs typeface="Times New Roman" panose="02020603050405020304" pitchFamily="18" charset="0"/>
              </a:rPr>
              <a:t> with frequency domain enhancements</a:t>
            </a:r>
          </a:p>
        </p:txBody>
      </p:sp>
      <p:sp>
        <p:nvSpPr>
          <p:cNvPr id="4" name="TextBox 3">
            <a:extLst>
              <a:ext uri="{FF2B5EF4-FFF2-40B4-BE49-F238E27FC236}">
                <a16:creationId xmlns:a16="http://schemas.microsoft.com/office/drawing/2014/main" id="{B2953ECB-7665-D1BB-51FC-8478D21FF13D}"/>
              </a:ext>
            </a:extLst>
          </p:cNvPr>
          <p:cNvSpPr txBox="1"/>
          <p:nvPr/>
        </p:nvSpPr>
        <p:spPr>
          <a:xfrm>
            <a:off x="7898639" y="4210493"/>
            <a:ext cx="3775393"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Name – Chinmay Gurjar (A20561457)</a:t>
            </a:r>
          </a:p>
          <a:p>
            <a:r>
              <a:rPr lang="en-US" dirty="0">
                <a:latin typeface="Times New Roman" panose="02020603050405020304" pitchFamily="18" charset="0"/>
                <a:cs typeface="Times New Roman" panose="02020603050405020304" pitchFamily="18" charset="0"/>
              </a:rPr>
              <a:t>Machine Learning (CS584)</a:t>
            </a:r>
          </a:p>
        </p:txBody>
      </p:sp>
    </p:spTree>
    <p:extLst>
      <p:ext uri="{BB962C8B-B14F-4D97-AF65-F5344CB8AC3E}">
        <p14:creationId xmlns:p14="http://schemas.microsoft.com/office/powerpoint/2010/main" val="3245418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B7AC3-BECF-3EF7-FF97-B6CC8421FCC8}"/>
              </a:ext>
            </a:extLst>
          </p:cNvPr>
          <p:cNvSpPr>
            <a:spLocks noGrp="1"/>
          </p:cNvSpPr>
          <p:nvPr>
            <p:ph type="title"/>
          </p:nvPr>
        </p:nvSpPr>
        <p:spPr/>
        <p:txBody>
          <a:bodyPr>
            <a:normAutofit/>
          </a:bodyPr>
          <a:lstStyle/>
          <a:p>
            <a:r>
              <a:rPr lang="en-US" sz="3200" dirty="0">
                <a:latin typeface="Baskerville Old Face" panose="02020602080505020303" pitchFamily="18" charset="77"/>
              </a:rPr>
              <a:t>What is Anomaly detection?</a:t>
            </a:r>
          </a:p>
        </p:txBody>
      </p:sp>
      <p:sp>
        <p:nvSpPr>
          <p:cNvPr id="3" name="Content Placeholder 2">
            <a:extLst>
              <a:ext uri="{FF2B5EF4-FFF2-40B4-BE49-F238E27FC236}">
                <a16:creationId xmlns:a16="http://schemas.microsoft.com/office/drawing/2014/main" id="{6D2FC706-67B9-6319-192C-1AA5721F7D3D}"/>
              </a:ext>
            </a:extLst>
          </p:cNvPr>
          <p:cNvSpPr>
            <a:spLocks noGrp="1"/>
          </p:cNvSpPr>
          <p:nvPr>
            <p:ph idx="1"/>
          </p:nvPr>
        </p:nvSpPr>
        <p:spPr/>
        <p:txBody>
          <a:bodyPr/>
          <a:lstStyle/>
          <a:p>
            <a:r>
              <a:rPr lang="en-US" dirty="0"/>
              <a:t>Anomaly Detection is the identification of rare items, events or observations which deviate significantly from the majority of the data and do not show a well-defined behavior.</a:t>
            </a:r>
          </a:p>
          <a:p>
            <a:r>
              <a:rPr lang="en-US" dirty="0"/>
              <a:t>Anomaly Detection is also a process of identifying unusual pattern in the given data.</a:t>
            </a:r>
          </a:p>
          <a:p>
            <a:r>
              <a:rPr lang="en-US" dirty="0"/>
              <a:t>Doing this manually is inefficient and error prone.</a:t>
            </a:r>
          </a:p>
          <a:p>
            <a:r>
              <a:rPr lang="en-US" dirty="0"/>
              <a:t>So, there is a need for new automated methods to detect anomalies more accurately.</a:t>
            </a:r>
          </a:p>
        </p:txBody>
      </p:sp>
    </p:spTree>
    <p:extLst>
      <p:ext uri="{BB962C8B-B14F-4D97-AF65-F5344CB8AC3E}">
        <p14:creationId xmlns:p14="http://schemas.microsoft.com/office/powerpoint/2010/main" val="2276577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1110A-A492-24DA-4733-EED487F6939E}"/>
              </a:ext>
            </a:extLst>
          </p:cNvPr>
          <p:cNvSpPr>
            <a:spLocks noGrp="1"/>
          </p:cNvSpPr>
          <p:nvPr>
            <p:ph type="title"/>
          </p:nvPr>
        </p:nvSpPr>
        <p:spPr/>
        <p:txBody>
          <a:bodyPr>
            <a:normAutofit/>
          </a:bodyPr>
          <a:lstStyle/>
          <a:p>
            <a:r>
              <a:rPr lang="en-US" sz="3200" dirty="0">
                <a:latin typeface="Baskerville Old Face" panose="02020602080505020303" pitchFamily="18" charset="77"/>
              </a:rPr>
              <a:t>Motivation</a:t>
            </a:r>
          </a:p>
        </p:txBody>
      </p:sp>
      <p:sp>
        <p:nvSpPr>
          <p:cNvPr id="3" name="Content Placeholder 2">
            <a:extLst>
              <a:ext uri="{FF2B5EF4-FFF2-40B4-BE49-F238E27FC236}">
                <a16:creationId xmlns:a16="http://schemas.microsoft.com/office/drawing/2014/main" id="{8EEA4236-382F-A4A2-B474-083EC0F3C60C}"/>
              </a:ext>
            </a:extLst>
          </p:cNvPr>
          <p:cNvSpPr>
            <a:spLocks noGrp="1"/>
          </p:cNvSpPr>
          <p:nvPr>
            <p:ph idx="1"/>
          </p:nvPr>
        </p:nvSpPr>
        <p:spPr/>
        <p:txBody>
          <a:bodyPr/>
          <a:lstStyle/>
          <a:p>
            <a:r>
              <a:rPr lang="en-US" dirty="0"/>
              <a:t>Modern systems generate large scale time series data.</a:t>
            </a:r>
          </a:p>
          <a:p>
            <a:r>
              <a:rPr lang="en-US" dirty="0"/>
              <a:t>In the areas like Industrial Systems, Space Telemetry Time Series Data is generated on a large scale.</a:t>
            </a:r>
          </a:p>
          <a:p>
            <a:r>
              <a:rPr lang="en-US" dirty="0"/>
              <a:t>Undetected Anomalies can lead to System Failures, Financial Loss, Safety Issues, etc.</a:t>
            </a:r>
          </a:p>
          <a:p>
            <a:r>
              <a:rPr lang="en-US" dirty="0"/>
              <a:t>Hence, accurate anomaly detection is essential for reliability.</a:t>
            </a:r>
          </a:p>
          <a:p>
            <a:r>
              <a:rPr lang="en-US" dirty="0"/>
              <a:t>Does applying TCN on Time Domain Signals and trying to identify Frequency patterns really help?</a:t>
            </a:r>
          </a:p>
          <a:p>
            <a:r>
              <a:rPr lang="en-US" dirty="0"/>
              <a:t>Separate Frequency Domain is still a necessity?</a:t>
            </a:r>
          </a:p>
        </p:txBody>
      </p:sp>
    </p:spTree>
    <p:extLst>
      <p:ext uri="{BB962C8B-B14F-4D97-AF65-F5344CB8AC3E}">
        <p14:creationId xmlns:p14="http://schemas.microsoft.com/office/powerpoint/2010/main" val="850291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37E9D-1890-99F9-2E0A-CB2787FD9E85}"/>
              </a:ext>
            </a:extLst>
          </p:cNvPr>
          <p:cNvSpPr>
            <a:spLocks noGrp="1"/>
          </p:cNvSpPr>
          <p:nvPr>
            <p:ph type="title"/>
          </p:nvPr>
        </p:nvSpPr>
        <p:spPr/>
        <p:txBody>
          <a:bodyPr>
            <a:normAutofit/>
          </a:bodyPr>
          <a:lstStyle/>
          <a:p>
            <a:r>
              <a:rPr lang="en-US" sz="3200" dirty="0">
                <a:latin typeface="Baskerville Old Face" panose="02020602080505020303" pitchFamily="18" charset="77"/>
              </a:rPr>
              <a:t>What is TFAD?</a:t>
            </a:r>
          </a:p>
        </p:txBody>
      </p:sp>
      <p:sp>
        <p:nvSpPr>
          <p:cNvPr id="3" name="Content Placeholder 2">
            <a:extLst>
              <a:ext uri="{FF2B5EF4-FFF2-40B4-BE49-F238E27FC236}">
                <a16:creationId xmlns:a16="http://schemas.microsoft.com/office/drawing/2014/main" id="{7E834777-BCF0-7283-FCD6-38E3100D5C96}"/>
              </a:ext>
            </a:extLst>
          </p:cNvPr>
          <p:cNvSpPr>
            <a:spLocks noGrp="1"/>
          </p:cNvSpPr>
          <p:nvPr>
            <p:ph idx="1"/>
          </p:nvPr>
        </p:nvSpPr>
        <p:spPr/>
        <p:txBody>
          <a:bodyPr/>
          <a:lstStyle/>
          <a:p>
            <a:r>
              <a:rPr lang="en-US" dirty="0"/>
              <a:t>TFAD is Time Frequency Anomaly Detection Model, used for detecting anomalies in time series data.</a:t>
            </a:r>
          </a:p>
          <a:p>
            <a:r>
              <a:rPr lang="en-US" dirty="0"/>
              <a:t>It is designed to detect abnormal patterns without explicit anomaly labels.</a:t>
            </a:r>
          </a:p>
          <a:p>
            <a:r>
              <a:rPr lang="en-US" dirty="0"/>
              <a:t>Rather than directly classifying anomalies, TFAD Model learns what normal behavior looks like.</a:t>
            </a:r>
          </a:p>
          <a:p>
            <a:r>
              <a:rPr lang="en-US" dirty="0"/>
              <a:t>Then it detects anomalies as deviations from the normal patterns.</a:t>
            </a:r>
          </a:p>
        </p:txBody>
      </p:sp>
    </p:spTree>
    <p:extLst>
      <p:ext uri="{BB962C8B-B14F-4D97-AF65-F5344CB8AC3E}">
        <p14:creationId xmlns:p14="http://schemas.microsoft.com/office/powerpoint/2010/main" val="1927107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843E-E262-B34C-0460-8626A67CB916}"/>
              </a:ext>
            </a:extLst>
          </p:cNvPr>
          <p:cNvSpPr>
            <a:spLocks noGrp="1"/>
          </p:cNvSpPr>
          <p:nvPr>
            <p:ph type="title"/>
          </p:nvPr>
        </p:nvSpPr>
        <p:spPr/>
        <p:txBody>
          <a:bodyPr>
            <a:normAutofit/>
          </a:bodyPr>
          <a:lstStyle/>
          <a:p>
            <a:r>
              <a:rPr lang="en-US" sz="3200" dirty="0">
                <a:latin typeface="Baskerville Old Face" panose="02020602080505020303" pitchFamily="18" charset="77"/>
              </a:rPr>
              <a:t>TFAD Components</a:t>
            </a:r>
          </a:p>
        </p:txBody>
      </p:sp>
      <p:sp>
        <p:nvSpPr>
          <p:cNvPr id="3" name="Content Placeholder 2">
            <a:extLst>
              <a:ext uri="{FF2B5EF4-FFF2-40B4-BE49-F238E27FC236}">
                <a16:creationId xmlns:a16="http://schemas.microsoft.com/office/drawing/2014/main" id="{2BB7AB98-D99E-5419-8E5A-6228220D382D}"/>
              </a:ext>
            </a:extLst>
          </p:cNvPr>
          <p:cNvSpPr>
            <a:spLocks noGrp="1"/>
          </p:cNvSpPr>
          <p:nvPr>
            <p:ph idx="1"/>
          </p:nvPr>
        </p:nvSpPr>
        <p:spPr/>
        <p:txBody>
          <a:bodyPr/>
          <a:lstStyle/>
          <a:p>
            <a:r>
              <a:rPr lang="en-US" dirty="0"/>
              <a:t>Temporal Convolutional Network (TCN) – To capture time related dependencies</a:t>
            </a:r>
          </a:p>
          <a:p>
            <a:r>
              <a:rPr lang="en-US" dirty="0"/>
              <a:t>Sliding Windows – To break time series into small segments</a:t>
            </a:r>
          </a:p>
          <a:p>
            <a:r>
              <a:rPr lang="en-US" dirty="0"/>
              <a:t>Space Embeddings – To convert each window into a feature vector</a:t>
            </a:r>
          </a:p>
          <a:p>
            <a:r>
              <a:rPr lang="en-US" dirty="0"/>
              <a:t>Distance Function – To measure similarity between patterns</a:t>
            </a:r>
          </a:p>
        </p:txBody>
      </p:sp>
    </p:spTree>
    <p:extLst>
      <p:ext uri="{BB962C8B-B14F-4D97-AF65-F5344CB8AC3E}">
        <p14:creationId xmlns:p14="http://schemas.microsoft.com/office/powerpoint/2010/main" val="2510095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445C-F44F-D171-6C57-7515F289DF48}"/>
              </a:ext>
            </a:extLst>
          </p:cNvPr>
          <p:cNvSpPr>
            <a:spLocks noGrp="1"/>
          </p:cNvSpPr>
          <p:nvPr>
            <p:ph type="title"/>
          </p:nvPr>
        </p:nvSpPr>
        <p:spPr/>
        <p:txBody>
          <a:bodyPr>
            <a:normAutofit/>
          </a:bodyPr>
          <a:lstStyle/>
          <a:p>
            <a:r>
              <a:rPr lang="en-US" sz="3200" dirty="0">
                <a:latin typeface="Baskerville Old Face" panose="02020602080505020303" pitchFamily="18" charset="77"/>
              </a:rPr>
              <a:t>Time Domain representation</a:t>
            </a:r>
          </a:p>
        </p:txBody>
      </p:sp>
      <p:sp>
        <p:nvSpPr>
          <p:cNvPr id="3" name="Content Placeholder 2">
            <a:extLst>
              <a:ext uri="{FF2B5EF4-FFF2-40B4-BE49-F238E27FC236}">
                <a16:creationId xmlns:a16="http://schemas.microsoft.com/office/drawing/2014/main" id="{55AE58C0-9FA2-9A7B-15E6-E2CBB9CDC5CA}"/>
              </a:ext>
            </a:extLst>
          </p:cNvPr>
          <p:cNvSpPr>
            <a:spLocks noGrp="1"/>
          </p:cNvSpPr>
          <p:nvPr>
            <p:ph idx="1"/>
          </p:nvPr>
        </p:nvSpPr>
        <p:spPr>
          <a:xfrm>
            <a:off x="685801" y="2065867"/>
            <a:ext cx="10131425" cy="3649133"/>
          </a:xfrm>
        </p:spPr>
        <p:txBody>
          <a:bodyPr/>
          <a:lstStyle/>
          <a:p>
            <a:r>
              <a:rPr lang="en-US" dirty="0"/>
              <a:t>In Time Domain, Raw Signal Values over a certain time are captured.</a:t>
            </a:r>
          </a:p>
          <a:p>
            <a:r>
              <a:rPr lang="en-US" dirty="0"/>
              <a:t>It captures trends, sudden spikes, and temporal patterns.</a:t>
            </a:r>
          </a:p>
          <a:p>
            <a:r>
              <a:rPr lang="en-US" dirty="0"/>
              <a:t>Sudden increase in sensor reading detects an anomaly.</a:t>
            </a:r>
          </a:p>
          <a:p>
            <a:r>
              <a:rPr lang="en-US" dirty="0"/>
              <a:t>Its limitation is to capture hidden periodic patterns.</a:t>
            </a:r>
          </a:p>
        </p:txBody>
      </p:sp>
    </p:spTree>
    <p:extLst>
      <p:ext uri="{BB962C8B-B14F-4D97-AF65-F5344CB8AC3E}">
        <p14:creationId xmlns:p14="http://schemas.microsoft.com/office/powerpoint/2010/main" val="4172354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E30F2-E8DD-CC33-526A-B73CD33AE0CC}"/>
              </a:ext>
            </a:extLst>
          </p:cNvPr>
          <p:cNvSpPr>
            <a:spLocks noGrp="1"/>
          </p:cNvSpPr>
          <p:nvPr>
            <p:ph type="title"/>
          </p:nvPr>
        </p:nvSpPr>
        <p:spPr/>
        <p:txBody>
          <a:bodyPr>
            <a:normAutofit/>
          </a:bodyPr>
          <a:lstStyle/>
          <a:p>
            <a:r>
              <a:rPr lang="en-US" sz="3200" dirty="0">
                <a:latin typeface="Baskerville Old Face" panose="02020602080505020303" pitchFamily="18" charset="77"/>
              </a:rPr>
              <a:t>Temporal convolution</a:t>
            </a:r>
          </a:p>
        </p:txBody>
      </p:sp>
      <p:sp>
        <p:nvSpPr>
          <p:cNvPr id="3" name="Content Placeholder 2">
            <a:extLst>
              <a:ext uri="{FF2B5EF4-FFF2-40B4-BE49-F238E27FC236}">
                <a16:creationId xmlns:a16="http://schemas.microsoft.com/office/drawing/2014/main" id="{0FDFEAE3-480A-4231-6CAA-2ABF69EE10BF}"/>
              </a:ext>
            </a:extLst>
          </p:cNvPr>
          <p:cNvSpPr>
            <a:spLocks noGrp="1"/>
          </p:cNvSpPr>
          <p:nvPr>
            <p:ph idx="1"/>
          </p:nvPr>
        </p:nvSpPr>
        <p:spPr/>
        <p:txBody>
          <a:bodyPr/>
          <a:lstStyle/>
          <a:p>
            <a:r>
              <a:rPr lang="en-US" dirty="0"/>
              <a:t>TCN is Temporal Convolutional Network.</a:t>
            </a:r>
          </a:p>
          <a:p>
            <a:r>
              <a:rPr lang="en-US" dirty="0"/>
              <a:t>In the paper, TCN is used as a feature extractor. It converts raw time series window to an embedding.</a:t>
            </a:r>
          </a:p>
          <a:p>
            <a:r>
              <a:rPr lang="en-US" dirty="0"/>
              <a:t>Used for capturing short patterns and long-range dependencies.</a:t>
            </a:r>
          </a:p>
          <a:p>
            <a:r>
              <a:rPr lang="en-US" dirty="0"/>
              <a:t>Learns temporal and frequency patterns implicitly.</a:t>
            </a:r>
          </a:p>
          <a:p>
            <a:r>
              <a:rPr lang="en-US" dirty="0"/>
              <a:t>No explicit frequency patterns are learned.</a:t>
            </a:r>
          </a:p>
          <a:p>
            <a:endParaRPr lang="en-US" dirty="0"/>
          </a:p>
        </p:txBody>
      </p:sp>
    </p:spTree>
    <p:extLst>
      <p:ext uri="{BB962C8B-B14F-4D97-AF65-F5344CB8AC3E}">
        <p14:creationId xmlns:p14="http://schemas.microsoft.com/office/powerpoint/2010/main" val="353369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83B23-7C63-D605-9980-FF2F759AB47A}"/>
              </a:ext>
            </a:extLst>
          </p:cNvPr>
          <p:cNvSpPr>
            <a:spLocks noGrp="1"/>
          </p:cNvSpPr>
          <p:nvPr>
            <p:ph type="title"/>
          </p:nvPr>
        </p:nvSpPr>
        <p:spPr/>
        <p:txBody>
          <a:bodyPr>
            <a:normAutofit/>
          </a:bodyPr>
          <a:lstStyle/>
          <a:p>
            <a:r>
              <a:rPr lang="en-US" sz="3200" dirty="0" err="1">
                <a:latin typeface="Baskerville Old Face" panose="02020602080505020303" pitchFamily="18" charset="77"/>
              </a:rPr>
              <a:t>Tfad</a:t>
            </a:r>
            <a:r>
              <a:rPr lang="en-US" sz="3200" dirty="0">
                <a:latin typeface="Baskerville Old Face" panose="02020602080505020303" pitchFamily="18" charset="77"/>
              </a:rPr>
              <a:t> architecture</a:t>
            </a:r>
          </a:p>
        </p:txBody>
      </p:sp>
      <p:sp>
        <p:nvSpPr>
          <p:cNvPr id="3" name="Content Placeholder 2">
            <a:extLst>
              <a:ext uri="{FF2B5EF4-FFF2-40B4-BE49-F238E27FC236}">
                <a16:creationId xmlns:a16="http://schemas.microsoft.com/office/drawing/2014/main" id="{E9409572-0A0F-EED4-1D53-5BCBFBAC00D6}"/>
              </a:ext>
            </a:extLst>
          </p:cNvPr>
          <p:cNvSpPr>
            <a:spLocks noGrp="1"/>
          </p:cNvSpPr>
          <p:nvPr>
            <p:ph idx="1"/>
          </p:nvPr>
        </p:nvSpPr>
        <p:spPr/>
        <p:txBody>
          <a:bodyPr/>
          <a:lstStyle/>
          <a:p>
            <a:r>
              <a:rPr lang="en-US" dirty="0"/>
              <a:t>Takes Time Series as an input, which is Multivariate Time Series from multiple sensors and a continuous stream of values over time.</a:t>
            </a:r>
          </a:p>
          <a:p>
            <a:r>
              <a:rPr lang="en-US" dirty="0"/>
              <a:t>Window Segmentation – Time Series data is split into sliding windows, and each window represents a small segment of time.</a:t>
            </a:r>
          </a:p>
          <a:p>
            <a:r>
              <a:rPr lang="en-US" dirty="0"/>
              <a:t>Embeddings using TCN – Each window is passed through TCN which extracts temporal patterns and dependencies over time. Each window is converted to embedding vector.</a:t>
            </a:r>
          </a:p>
          <a:p>
            <a:r>
              <a:rPr lang="en-US" dirty="0"/>
              <a:t>Model learns about normal data and anomalous windows thereby separating normal and abnormal patterns in embedding space.</a:t>
            </a:r>
          </a:p>
        </p:txBody>
      </p:sp>
    </p:spTree>
    <p:extLst>
      <p:ext uri="{BB962C8B-B14F-4D97-AF65-F5344CB8AC3E}">
        <p14:creationId xmlns:p14="http://schemas.microsoft.com/office/powerpoint/2010/main" val="2195835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36F2B-5664-B77F-0E29-11A246EB1975}"/>
              </a:ext>
            </a:extLst>
          </p:cNvPr>
          <p:cNvSpPr>
            <a:spLocks noGrp="1"/>
          </p:cNvSpPr>
          <p:nvPr>
            <p:ph type="title"/>
          </p:nvPr>
        </p:nvSpPr>
        <p:spPr/>
        <p:txBody>
          <a:bodyPr>
            <a:normAutofit/>
          </a:bodyPr>
          <a:lstStyle/>
          <a:p>
            <a:r>
              <a:rPr lang="en-US" sz="3200" dirty="0" err="1">
                <a:latin typeface="Baskerville Old Face" panose="02020602080505020303" pitchFamily="18" charset="77"/>
              </a:rPr>
              <a:t>Tfad</a:t>
            </a:r>
            <a:r>
              <a:rPr lang="en-US" sz="3200" dirty="0">
                <a:latin typeface="Baskerville Old Face" panose="02020602080505020303" pitchFamily="18" charset="77"/>
              </a:rPr>
              <a:t> Architecture</a:t>
            </a:r>
          </a:p>
        </p:txBody>
      </p:sp>
      <p:sp>
        <p:nvSpPr>
          <p:cNvPr id="3" name="Content Placeholder 2">
            <a:extLst>
              <a:ext uri="{FF2B5EF4-FFF2-40B4-BE49-F238E27FC236}">
                <a16:creationId xmlns:a16="http://schemas.microsoft.com/office/drawing/2014/main" id="{96B30CA0-FFF0-77D5-9F2E-2C6FB63B6FB5}"/>
              </a:ext>
            </a:extLst>
          </p:cNvPr>
          <p:cNvSpPr>
            <a:spLocks noGrp="1"/>
          </p:cNvSpPr>
          <p:nvPr>
            <p:ph idx="1"/>
          </p:nvPr>
        </p:nvSpPr>
        <p:spPr/>
        <p:txBody>
          <a:bodyPr/>
          <a:lstStyle/>
          <a:p>
            <a:r>
              <a:rPr lang="en-US" dirty="0"/>
              <a:t>After training, model computes distance between anomalies using Cosine Distance and L2 Regularization Methods.</a:t>
            </a:r>
          </a:p>
          <a:p>
            <a:r>
              <a:rPr lang="en-US" dirty="0"/>
              <a:t>Small distance – Not Anomaly, Large Distance – Anomaly. Hence, this distance = Anomaly Score</a:t>
            </a:r>
          </a:p>
          <a:p>
            <a:r>
              <a:rPr lang="en-US" dirty="0"/>
              <a:t>To make a decision, we convert anomaly score to binary output, using threshold.</a:t>
            </a:r>
          </a:p>
          <a:p>
            <a:r>
              <a:rPr lang="en-US" dirty="0"/>
              <a:t>For each window, we get an anomaly score, 0 or 1, and we evaluate this using Precision, Recall and F1 Scores.</a:t>
            </a:r>
          </a:p>
        </p:txBody>
      </p:sp>
    </p:spTree>
    <p:extLst>
      <p:ext uri="{BB962C8B-B14F-4D97-AF65-F5344CB8AC3E}">
        <p14:creationId xmlns:p14="http://schemas.microsoft.com/office/powerpoint/2010/main" val="442163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F2E3E-EF5A-F738-E3B4-0B0A8FC13C15}"/>
              </a:ext>
            </a:extLst>
          </p:cNvPr>
          <p:cNvSpPr>
            <a:spLocks noGrp="1"/>
          </p:cNvSpPr>
          <p:nvPr>
            <p:ph type="title"/>
          </p:nvPr>
        </p:nvSpPr>
        <p:spPr/>
        <p:txBody>
          <a:bodyPr>
            <a:normAutofit/>
          </a:bodyPr>
          <a:lstStyle/>
          <a:p>
            <a:r>
              <a:rPr lang="en-US" sz="3200" dirty="0">
                <a:latin typeface="Baskerville Old Face" panose="02020602080505020303" pitchFamily="18" charset="77"/>
              </a:rPr>
              <a:t>Added Frequency Domain Representation</a:t>
            </a:r>
          </a:p>
        </p:txBody>
      </p:sp>
      <p:sp>
        <p:nvSpPr>
          <p:cNvPr id="3" name="Content Placeholder 2">
            <a:extLst>
              <a:ext uri="{FF2B5EF4-FFF2-40B4-BE49-F238E27FC236}">
                <a16:creationId xmlns:a16="http://schemas.microsoft.com/office/drawing/2014/main" id="{B1EE7213-50CA-628F-7BD6-B41DE2DFD7F9}"/>
              </a:ext>
            </a:extLst>
          </p:cNvPr>
          <p:cNvSpPr>
            <a:spLocks noGrp="1"/>
          </p:cNvSpPr>
          <p:nvPr>
            <p:ph idx="1"/>
          </p:nvPr>
        </p:nvSpPr>
        <p:spPr/>
        <p:txBody>
          <a:bodyPr/>
          <a:lstStyle/>
          <a:p>
            <a:r>
              <a:rPr lang="en-US" dirty="0"/>
              <a:t>To overcome the limitation of Time Domain, we convert signal from time to frequency domain.</a:t>
            </a:r>
          </a:p>
          <a:p>
            <a:r>
              <a:rPr lang="en-US" dirty="0"/>
              <a:t>This uses Fast Fourier Transform (FFT) Method.</a:t>
            </a:r>
          </a:p>
          <a:p>
            <a:r>
              <a:rPr lang="en-US" dirty="0"/>
              <a:t>This extracts Spectral Knowledge, Dominant Frequency, and Frequency Distribution.</a:t>
            </a:r>
          </a:p>
          <a:p>
            <a:r>
              <a:rPr lang="en-US" dirty="0"/>
              <a:t>This reveals hidden patterns not visible in the time domain.</a:t>
            </a:r>
          </a:p>
        </p:txBody>
      </p:sp>
    </p:spTree>
    <p:extLst>
      <p:ext uri="{BB962C8B-B14F-4D97-AF65-F5344CB8AC3E}">
        <p14:creationId xmlns:p14="http://schemas.microsoft.com/office/powerpoint/2010/main" val="2603951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2431-4D01-0891-B89C-E506FDC5351A}"/>
              </a:ext>
            </a:extLst>
          </p:cNvPr>
          <p:cNvSpPr>
            <a:spLocks noGrp="1"/>
          </p:cNvSpPr>
          <p:nvPr>
            <p:ph type="title"/>
          </p:nvPr>
        </p:nvSpPr>
        <p:spPr/>
        <p:txBody>
          <a:bodyPr>
            <a:normAutofit/>
          </a:bodyPr>
          <a:lstStyle/>
          <a:p>
            <a:r>
              <a:rPr lang="en-US" sz="3200" dirty="0">
                <a:latin typeface="Baskerville Old Face" panose="02020602080505020303" pitchFamily="18" charset="77"/>
              </a:rPr>
              <a:t>WHY FFT Explicitly?</a:t>
            </a:r>
          </a:p>
        </p:txBody>
      </p:sp>
      <p:sp>
        <p:nvSpPr>
          <p:cNvPr id="3" name="Content Placeholder 2">
            <a:extLst>
              <a:ext uri="{FF2B5EF4-FFF2-40B4-BE49-F238E27FC236}">
                <a16:creationId xmlns:a16="http://schemas.microsoft.com/office/drawing/2014/main" id="{CB57313A-2A5F-9BC5-961A-ABC3309C396C}"/>
              </a:ext>
            </a:extLst>
          </p:cNvPr>
          <p:cNvSpPr>
            <a:spLocks noGrp="1"/>
          </p:cNvSpPr>
          <p:nvPr>
            <p:ph idx="1"/>
          </p:nvPr>
        </p:nvSpPr>
        <p:spPr/>
        <p:txBody>
          <a:bodyPr/>
          <a:lstStyle/>
          <a:p>
            <a:r>
              <a:rPr lang="en-US" dirty="0"/>
              <a:t>We add FFT to provide explicit frequency information.</a:t>
            </a:r>
          </a:p>
          <a:p>
            <a:r>
              <a:rPr lang="en-US" dirty="0"/>
              <a:t>TFAD acts poorly for pattern or seasonal anomalies.</a:t>
            </a:r>
          </a:p>
          <a:p>
            <a:r>
              <a:rPr lang="en-US" dirty="0"/>
              <a:t>FFT converts signal to frequency domain.</a:t>
            </a:r>
          </a:p>
          <a:p>
            <a:r>
              <a:rPr lang="en-US" dirty="0"/>
              <a:t>We combine time domain signal with the frequency domain signal.</a:t>
            </a:r>
          </a:p>
          <a:p>
            <a:r>
              <a:rPr lang="en-US" dirty="0"/>
              <a:t>Time domain captures local changes and frequency domain captures global changes.</a:t>
            </a:r>
          </a:p>
        </p:txBody>
      </p:sp>
    </p:spTree>
    <p:extLst>
      <p:ext uri="{BB962C8B-B14F-4D97-AF65-F5344CB8AC3E}">
        <p14:creationId xmlns:p14="http://schemas.microsoft.com/office/powerpoint/2010/main" val="67105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B8477-6210-5D3D-2159-2079FB1A7B3C}"/>
              </a:ext>
            </a:extLst>
          </p:cNvPr>
          <p:cNvSpPr>
            <a:spLocks noGrp="1"/>
          </p:cNvSpPr>
          <p:nvPr>
            <p:ph type="title"/>
          </p:nvPr>
        </p:nvSpPr>
        <p:spPr/>
        <p:txBody>
          <a:bodyPr>
            <a:normAutofit/>
          </a:bodyPr>
          <a:lstStyle/>
          <a:p>
            <a:r>
              <a:rPr lang="en-US" sz="3200" dirty="0">
                <a:latin typeface="Baskerville Old Face" panose="02020602080505020303" pitchFamily="18" charset="77"/>
              </a:rPr>
              <a:t>Novel Contributions</a:t>
            </a:r>
          </a:p>
        </p:txBody>
      </p:sp>
      <p:sp>
        <p:nvSpPr>
          <p:cNvPr id="3" name="Content Placeholder 2">
            <a:extLst>
              <a:ext uri="{FF2B5EF4-FFF2-40B4-BE49-F238E27FC236}">
                <a16:creationId xmlns:a16="http://schemas.microsoft.com/office/drawing/2014/main" id="{832BB52F-82E2-F55A-F7DA-2C31312EB953}"/>
              </a:ext>
            </a:extLst>
          </p:cNvPr>
          <p:cNvSpPr>
            <a:spLocks noGrp="1"/>
          </p:cNvSpPr>
          <p:nvPr>
            <p:ph idx="1"/>
          </p:nvPr>
        </p:nvSpPr>
        <p:spPr/>
        <p:txBody>
          <a:bodyPr/>
          <a:lstStyle/>
          <a:p>
            <a:r>
              <a:rPr lang="en-US" dirty="0"/>
              <a:t>Channel Wise Importance Weightage</a:t>
            </a:r>
          </a:p>
          <a:p>
            <a:r>
              <a:rPr lang="en-US" dirty="0"/>
              <a:t>Explicit Threshold Optimization</a:t>
            </a:r>
          </a:p>
          <a:p>
            <a:r>
              <a:rPr lang="en-US" dirty="0"/>
              <a:t>Extended Metrics – F1, Accuracy, Specificity, Balanced Accuracy, FNR, FPR, MCC</a:t>
            </a:r>
          </a:p>
          <a:p>
            <a:r>
              <a:rPr lang="en-US" dirty="0"/>
              <a:t>Enhanced Visualizations for detailed analysis</a:t>
            </a:r>
          </a:p>
          <a:p>
            <a:r>
              <a:rPr lang="en-US" dirty="0"/>
              <a:t>Logging and Checkpoint Mechanism</a:t>
            </a:r>
          </a:p>
          <a:p>
            <a:r>
              <a:rPr lang="en-US" dirty="0"/>
              <a:t>Fast Fourier Transform for explicit Frequency Domain</a:t>
            </a:r>
          </a:p>
        </p:txBody>
      </p:sp>
    </p:spTree>
    <p:extLst>
      <p:ext uri="{BB962C8B-B14F-4D97-AF65-F5344CB8AC3E}">
        <p14:creationId xmlns:p14="http://schemas.microsoft.com/office/powerpoint/2010/main" val="1779846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8589-5E82-90BF-F682-C215C178ED10}"/>
              </a:ext>
            </a:extLst>
          </p:cNvPr>
          <p:cNvSpPr>
            <a:spLocks noGrp="1"/>
          </p:cNvSpPr>
          <p:nvPr>
            <p:ph type="title"/>
          </p:nvPr>
        </p:nvSpPr>
        <p:spPr>
          <a:xfrm>
            <a:off x="685801" y="609600"/>
            <a:ext cx="11286459" cy="1456267"/>
          </a:xfrm>
        </p:spPr>
        <p:txBody>
          <a:bodyPr/>
          <a:lstStyle/>
          <a:p>
            <a:r>
              <a:rPr lang="en-US" dirty="0">
                <a:latin typeface="Baskerville Old Face" panose="02020602080505020303" pitchFamily="18" charset="77"/>
              </a:rPr>
              <a:t>Challenges and future scopes </a:t>
            </a:r>
            <a:r>
              <a:rPr lang="en-US" sz="1800" dirty="0">
                <a:latin typeface="Baskerville Old Face" panose="02020602080505020303" pitchFamily="18" charset="77"/>
              </a:rPr>
              <a:t>(Ensemble learning)  </a:t>
            </a:r>
            <a:endParaRPr lang="en-US" dirty="0">
              <a:latin typeface="Baskerville Old Face" panose="02020602080505020303" pitchFamily="18" charset="77"/>
            </a:endParaRPr>
          </a:p>
        </p:txBody>
      </p:sp>
      <p:sp>
        <p:nvSpPr>
          <p:cNvPr id="3" name="Content Placeholder 2">
            <a:extLst>
              <a:ext uri="{FF2B5EF4-FFF2-40B4-BE49-F238E27FC236}">
                <a16:creationId xmlns:a16="http://schemas.microsoft.com/office/drawing/2014/main" id="{D26D830E-4F38-E52D-5569-AA9EE5A1828D}"/>
              </a:ext>
            </a:extLst>
          </p:cNvPr>
          <p:cNvSpPr>
            <a:spLocks noGrp="1"/>
          </p:cNvSpPr>
          <p:nvPr>
            <p:ph idx="1"/>
          </p:nvPr>
        </p:nvSpPr>
        <p:spPr/>
        <p:txBody>
          <a:bodyPr/>
          <a:lstStyle/>
          <a:p>
            <a:r>
              <a:rPr lang="en-US" dirty="0"/>
              <a:t>Varying shapes of outputs with different models.</a:t>
            </a:r>
          </a:p>
          <a:p>
            <a:r>
              <a:rPr lang="en-US" dirty="0"/>
              <a:t>Different windowing strategies.</a:t>
            </a:r>
          </a:p>
          <a:p>
            <a:r>
              <a:rPr lang="en-US" dirty="0"/>
              <a:t>Varying optimal thresholds for each model.</a:t>
            </a:r>
          </a:p>
          <a:p>
            <a:r>
              <a:rPr lang="en-US" dirty="0"/>
              <a:t>Ensemble Learning is choosing between majority voting and weighted average.</a:t>
            </a:r>
          </a:p>
          <a:p>
            <a:r>
              <a:rPr lang="en-US" dirty="0"/>
              <a:t>Difficult to trace errors due to different constraints on different pipelines.</a:t>
            </a:r>
          </a:p>
          <a:p>
            <a:pPr marL="0" indent="0">
              <a:buNone/>
            </a:pPr>
            <a:endParaRPr lang="en-US" dirty="0"/>
          </a:p>
        </p:txBody>
      </p:sp>
    </p:spTree>
    <p:extLst>
      <p:ext uri="{BB962C8B-B14F-4D97-AF65-F5344CB8AC3E}">
        <p14:creationId xmlns:p14="http://schemas.microsoft.com/office/powerpoint/2010/main" val="37058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E8AF-C23C-AB47-DBE2-83090DD0F50C}"/>
              </a:ext>
            </a:extLst>
          </p:cNvPr>
          <p:cNvSpPr>
            <a:spLocks noGrp="1"/>
          </p:cNvSpPr>
          <p:nvPr>
            <p:ph type="title"/>
          </p:nvPr>
        </p:nvSpPr>
        <p:spPr/>
        <p:txBody>
          <a:bodyPr>
            <a:normAutofit/>
          </a:bodyPr>
          <a:lstStyle/>
          <a:p>
            <a:r>
              <a:rPr lang="en-US" sz="3200" dirty="0">
                <a:latin typeface="Baskerville Old Face" panose="02020602080505020303" pitchFamily="18" charset="77"/>
              </a:rPr>
              <a:t>Datasets used</a:t>
            </a:r>
          </a:p>
        </p:txBody>
      </p:sp>
      <p:sp>
        <p:nvSpPr>
          <p:cNvPr id="3" name="Content Placeholder 2">
            <a:extLst>
              <a:ext uri="{FF2B5EF4-FFF2-40B4-BE49-F238E27FC236}">
                <a16:creationId xmlns:a16="http://schemas.microsoft.com/office/drawing/2014/main" id="{718115D6-5EB5-868B-A876-676A1955BD13}"/>
              </a:ext>
            </a:extLst>
          </p:cNvPr>
          <p:cNvSpPr>
            <a:spLocks noGrp="1"/>
          </p:cNvSpPr>
          <p:nvPr>
            <p:ph idx="1"/>
          </p:nvPr>
        </p:nvSpPr>
        <p:spPr>
          <a:xfrm>
            <a:off x="685801" y="2559395"/>
            <a:ext cx="10131425" cy="2387009"/>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hlinkClick r:id="rId2"/>
              </a:rPr>
              <a:t>Nasa Anomaly Detection Dataset SMAP and MSL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3"/>
              </a:rPr>
              <a:t>Numenta Anomaly Dataset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NASA SMAP and MSL contains point anomalies which could be detected as pattern and seasonal anomalies. Suitable for testing time domain and frequency domain methods.</a:t>
            </a:r>
          </a:p>
          <a:p>
            <a:r>
              <a:rPr lang="en-US" dirty="0">
                <a:latin typeface="Times New Roman" panose="02020603050405020304" pitchFamily="18" charset="0"/>
                <a:cs typeface="Times New Roman" panose="02020603050405020304" pitchFamily="18" charset="0"/>
              </a:rPr>
              <a:t>Act as multivariate time series datasets, with multiple sensor outputs and helps evaluate complex dependencies.</a:t>
            </a:r>
          </a:p>
          <a:p>
            <a:r>
              <a:rPr lang="en-US" dirty="0">
                <a:latin typeface="Times New Roman" panose="02020603050405020304" pitchFamily="18" charset="0"/>
                <a:cs typeface="Times New Roman" panose="02020603050405020304" pitchFamily="18" charset="0"/>
              </a:rPr>
              <a:t>NAB is changed with respect to </a:t>
            </a:r>
            <a:r>
              <a:rPr lang="en-US" dirty="0" err="1">
                <a:latin typeface="Times New Roman" panose="02020603050405020304" pitchFamily="18" charset="0"/>
                <a:cs typeface="Times New Roman" panose="02020603050405020304" pitchFamily="18" charset="0"/>
              </a:rPr>
              <a:t>SWaT</a:t>
            </a:r>
            <a:r>
              <a:rPr lang="en-US" dirty="0">
                <a:latin typeface="Times New Roman" panose="02020603050405020304" pitchFamily="18" charset="0"/>
                <a:cs typeface="Times New Roman" panose="02020603050405020304" pitchFamily="18" charset="0"/>
              </a:rPr>
              <a:t> dataset for making it quite similar to multivariate dataset.</a:t>
            </a:r>
          </a:p>
          <a:p>
            <a:r>
              <a:rPr lang="en-US" dirty="0">
                <a:latin typeface="Times New Roman" panose="02020603050405020304" pitchFamily="18" charset="0"/>
                <a:cs typeface="Times New Roman" panose="02020603050405020304" pitchFamily="18" charset="0"/>
              </a:rPr>
              <a:t>Provides a combination of artificial and real datasets.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0021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C44FE-04F1-B307-F577-12A5362F5E0D}"/>
              </a:ext>
            </a:extLst>
          </p:cNvPr>
          <p:cNvSpPr>
            <a:spLocks noGrp="1"/>
          </p:cNvSpPr>
          <p:nvPr>
            <p:ph type="title"/>
          </p:nvPr>
        </p:nvSpPr>
        <p:spPr/>
        <p:txBody>
          <a:bodyPr>
            <a:normAutofit/>
          </a:bodyPr>
          <a:lstStyle/>
          <a:p>
            <a:r>
              <a:rPr lang="en-US" sz="3200" dirty="0">
                <a:latin typeface="Baskerville Old Face" panose="02020602080505020303" pitchFamily="18" charset="77"/>
              </a:rPr>
              <a:t>Results and observations </a:t>
            </a:r>
            <a:r>
              <a:rPr lang="en-US" sz="1800" dirty="0">
                <a:latin typeface="Baskerville Old Face" panose="02020602080505020303" pitchFamily="18" charset="77"/>
              </a:rPr>
              <a:t>(SMAP Baseline)</a:t>
            </a:r>
          </a:p>
        </p:txBody>
      </p:sp>
      <p:pic>
        <p:nvPicPr>
          <p:cNvPr id="4" name="Content Placeholder 3">
            <a:extLst>
              <a:ext uri="{FF2B5EF4-FFF2-40B4-BE49-F238E27FC236}">
                <a16:creationId xmlns:a16="http://schemas.microsoft.com/office/drawing/2014/main" id="{BA42834E-8604-8800-3CE8-C7ABD6C7B6E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74774" y="2065867"/>
            <a:ext cx="3649662" cy="3649662"/>
          </a:xfrm>
          <a:prstGeom prst="rect">
            <a:avLst/>
          </a:prstGeom>
        </p:spPr>
      </p:pic>
      <p:pic>
        <p:nvPicPr>
          <p:cNvPr id="5" name="Picture 4">
            <a:extLst>
              <a:ext uri="{FF2B5EF4-FFF2-40B4-BE49-F238E27FC236}">
                <a16:creationId xmlns:a16="http://schemas.microsoft.com/office/drawing/2014/main" id="{5BF1E32B-3B4C-3E28-409A-5744728274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6751" y="2474924"/>
            <a:ext cx="4530475" cy="2831547"/>
          </a:xfrm>
          <a:prstGeom prst="rect">
            <a:avLst/>
          </a:prstGeom>
        </p:spPr>
      </p:pic>
    </p:spTree>
    <p:extLst>
      <p:ext uri="{BB962C8B-B14F-4D97-AF65-F5344CB8AC3E}">
        <p14:creationId xmlns:p14="http://schemas.microsoft.com/office/powerpoint/2010/main" val="3632898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06425-AB13-6EBD-2664-86B2D15B7759}"/>
              </a:ext>
            </a:extLst>
          </p:cNvPr>
          <p:cNvSpPr>
            <a:spLocks noGrp="1"/>
          </p:cNvSpPr>
          <p:nvPr>
            <p:ph type="title"/>
          </p:nvPr>
        </p:nvSpPr>
        <p:spPr/>
        <p:txBody>
          <a:bodyPr>
            <a:normAutofit/>
          </a:bodyPr>
          <a:lstStyle/>
          <a:p>
            <a:r>
              <a:rPr lang="en-US" sz="3200" dirty="0">
                <a:latin typeface="Baskerville Old Face" panose="02020602080505020303" pitchFamily="18" charset="77"/>
              </a:rPr>
              <a:t>Results and observations </a:t>
            </a:r>
            <a:r>
              <a:rPr lang="en-US" sz="1800" dirty="0">
                <a:latin typeface="Baskerville Old Face" panose="02020602080505020303" pitchFamily="18" charset="77"/>
              </a:rPr>
              <a:t>(</a:t>
            </a:r>
            <a:r>
              <a:rPr lang="en-US" sz="1800" dirty="0" err="1">
                <a:latin typeface="Baskerville Old Face" panose="02020602080505020303" pitchFamily="18" charset="77"/>
              </a:rPr>
              <a:t>Smap</a:t>
            </a:r>
            <a:r>
              <a:rPr lang="en-US" sz="1800" dirty="0">
                <a:latin typeface="Baskerville Old Face" panose="02020602080505020303" pitchFamily="18" charset="77"/>
              </a:rPr>
              <a:t> FFT)</a:t>
            </a:r>
            <a:endParaRPr lang="en-US" sz="1800" dirty="0"/>
          </a:p>
        </p:txBody>
      </p:sp>
      <p:pic>
        <p:nvPicPr>
          <p:cNvPr id="4" name="Content Placeholder 3">
            <a:extLst>
              <a:ext uri="{FF2B5EF4-FFF2-40B4-BE49-F238E27FC236}">
                <a16:creationId xmlns:a16="http://schemas.microsoft.com/office/drawing/2014/main" id="{599681D4-41D0-1D5F-4EAA-2E9C7D7CE6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7788" y="2065867"/>
            <a:ext cx="3649662" cy="3649662"/>
          </a:xfrm>
          <a:prstGeom prst="rect">
            <a:avLst/>
          </a:prstGeom>
        </p:spPr>
      </p:pic>
      <p:pic>
        <p:nvPicPr>
          <p:cNvPr id="5" name="Picture 4">
            <a:extLst>
              <a:ext uri="{FF2B5EF4-FFF2-40B4-BE49-F238E27FC236}">
                <a16:creationId xmlns:a16="http://schemas.microsoft.com/office/drawing/2014/main" id="{7A71F7D5-203F-3461-B40C-A5A474E41F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400146"/>
            <a:ext cx="4582632" cy="2864145"/>
          </a:xfrm>
          <a:prstGeom prst="rect">
            <a:avLst/>
          </a:prstGeom>
        </p:spPr>
      </p:pic>
    </p:spTree>
    <p:extLst>
      <p:ext uri="{BB962C8B-B14F-4D97-AF65-F5344CB8AC3E}">
        <p14:creationId xmlns:p14="http://schemas.microsoft.com/office/powerpoint/2010/main" val="934801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A7E99-81C4-33E4-91E5-C2B579950DD0}"/>
              </a:ext>
            </a:extLst>
          </p:cNvPr>
          <p:cNvSpPr>
            <a:spLocks noGrp="1"/>
          </p:cNvSpPr>
          <p:nvPr>
            <p:ph type="title"/>
          </p:nvPr>
        </p:nvSpPr>
        <p:spPr/>
        <p:txBody>
          <a:bodyPr>
            <a:normAutofit/>
          </a:bodyPr>
          <a:lstStyle/>
          <a:p>
            <a:r>
              <a:rPr lang="en-US" sz="3200" dirty="0">
                <a:latin typeface="Baskerville Old Face" panose="02020602080505020303" pitchFamily="18" charset="77"/>
              </a:rPr>
              <a:t>Results and observations </a:t>
            </a:r>
            <a:r>
              <a:rPr lang="en-US" sz="1800" dirty="0">
                <a:latin typeface="Baskerville Old Face" panose="02020602080505020303" pitchFamily="18" charset="77"/>
              </a:rPr>
              <a:t>(msl baseline)</a:t>
            </a:r>
            <a:endParaRPr lang="en-US" sz="1800" dirty="0"/>
          </a:p>
        </p:txBody>
      </p:sp>
      <p:pic>
        <p:nvPicPr>
          <p:cNvPr id="4" name="Content Placeholder 3">
            <a:extLst>
              <a:ext uri="{FF2B5EF4-FFF2-40B4-BE49-F238E27FC236}">
                <a16:creationId xmlns:a16="http://schemas.microsoft.com/office/drawing/2014/main" id="{A83ABD9F-1D6B-3606-857D-228E8DD44E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1192" y="2065867"/>
            <a:ext cx="3649662" cy="3649662"/>
          </a:xfrm>
          <a:prstGeom prst="rect">
            <a:avLst/>
          </a:prstGeom>
        </p:spPr>
      </p:pic>
      <p:pic>
        <p:nvPicPr>
          <p:cNvPr id="5" name="Picture 4">
            <a:extLst>
              <a:ext uri="{FF2B5EF4-FFF2-40B4-BE49-F238E27FC236}">
                <a16:creationId xmlns:a16="http://schemas.microsoft.com/office/drawing/2014/main" id="{7284B06D-1403-02CA-199C-FCDDB2FDA3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2211" y="2464170"/>
            <a:ext cx="4565015" cy="2853055"/>
          </a:xfrm>
          <a:prstGeom prst="rect">
            <a:avLst/>
          </a:prstGeom>
        </p:spPr>
      </p:pic>
    </p:spTree>
    <p:extLst>
      <p:ext uri="{BB962C8B-B14F-4D97-AF65-F5344CB8AC3E}">
        <p14:creationId xmlns:p14="http://schemas.microsoft.com/office/powerpoint/2010/main" val="2578164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E700C-E840-E767-FFE2-D8E9B8A53186}"/>
              </a:ext>
            </a:extLst>
          </p:cNvPr>
          <p:cNvSpPr>
            <a:spLocks noGrp="1"/>
          </p:cNvSpPr>
          <p:nvPr>
            <p:ph type="title"/>
          </p:nvPr>
        </p:nvSpPr>
        <p:spPr/>
        <p:txBody>
          <a:bodyPr>
            <a:normAutofit/>
          </a:bodyPr>
          <a:lstStyle/>
          <a:p>
            <a:r>
              <a:rPr lang="en-US" sz="3200" dirty="0">
                <a:latin typeface="Baskerville Old Face" panose="02020602080505020303" pitchFamily="18" charset="77"/>
              </a:rPr>
              <a:t>Results and observations </a:t>
            </a:r>
            <a:r>
              <a:rPr lang="en-US" sz="1800" dirty="0">
                <a:latin typeface="Baskerville Old Face" panose="02020602080505020303" pitchFamily="18" charset="77"/>
              </a:rPr>
              <a:t>(msl </a:t>
            </a:r>
            <a:r>
              <a:rPr lang="en-US" sz="1800" dirty="0" err="1">
                <a:latin typeface="Baskerville Old Face" panose="02020602080505020303" pitchFamily="18" charset="77"/>
              </a:rPr>
              <a:t>fft</a:t>
            </a:r>
            <a:r>
              <a:rPr lang="en-US" sz="1800" dirty="0">
                <a:latin typeface="Baskerville Old Face" panose="02020602080505020303" pitchFamily="18" charset="77"/>
              </a:rPr>
              <a:t>)</a:t>
            </a:r>
            <a:endParaRPr lang="en-US" sz="1800" dirty="0"/>
          </a:p>
        </p:txBody>
      </p:sp>
      <p:pic>
        <p:nvPicPr>
          <p:cNvPr id="4" name="Content Placeholder 3">
            <a:extLst>
              <a:ext uri="{FF2B5EF4-FFF2-40B4-BE49-F238E27FC236}">
                <a16:creationId xmlns:a16="http://schemas.microsoft.com/office/drawing/2014/main" id="{48431F50-76BC-2193-5083-501B766702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0561" y="2065867"/>
            <a:ext cx="3649662" cy="3649662"/>
          </a:xfrm>
          <a:prstGeom prst="rect">
            <a:avLst/>
          </a:prstGeom>
        </p:spPr>
      </p:pic>
      <p:pic>
        <p:nvPicPr>
          <p:cNvPr id="5" name="Picture 4">
            <a:extLst>
              <a:ext uri="{FF2B5EF4-FFF2-40B4-BE49-F238E27FC236}">
                <a16:creationId xmlns:a16="http://schemas.microsoft.com/office/drawing/2014/main" id="{F833F418-D9DB-B50A-BE83-9605D6CF9B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8571" y="2457501"/>
            <a:ext cx="4372868" cy="2732952"/>
          </a:xfrm>
          <a:prstGeom prst="rect">
            <a:avLst/>
          </a:prstGeom>
        </p:spPr>
      </p:pic>
    </p:spTree>
    <p:extLst>
      <p:ext uri="{BB962C8B-B14F-4D97-AF65-F5344CB8AC3E}">
        <p14:creationId xmlns:p14="http://schemas.microsoft.com/office/powerpoint/2010/main" val="3237224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4ACC9-5591-372D-394E-55B87FC63172}"/>
              </a:ext>
            </a:extLst>
          </p:cNvPr>
          <p:cNvSpPr>
            <a:spLocks noGrp="1"/>
          </p:cNvSpPr>
          <p:nvPr>
            <p:ph type="title"/>
          </p:nvPr>
        </p:nvSpPr>
        <p:spPr/>
        <p:txBody>
          <a:bodyPr>
            <a:normAutofit/>
          </a:bodyPr>
          <a:lstStyle/>
          <a:p>
            <a:r>
              <a:rPr lang="en-US" sz="3200" dirty="0">
                <a:latin typeface="Baskerville Old Face" panose="02020602080505020303" pitchFamily="18" charset="77"/>
              </a:rPr>
              <a:t>Results and observations </a:t>
            </a:r>
            <a:r>
              <a:rPr lang="en-US" sz="1800" dirty="0">
                <a:latin typeface="Baskerville Old Face" panose="02020602080505020303" pitchFamily="18" charset="77"/>
              </a:rPr>
              <a:t>(nab baseline)</a:t>
            </a:r>
            <a:endParaRPr lang="en-US" sz="1800" dirty="0"/>
          </a:p>
        </p:txBody>
      </p:sp>
      <p:pic>
        <p:nvPicPr>
          <p:cNvPr id="4" name="Content Placeholder 3">
            <a:extLst>
              <a:ext uri="{FF2B5EF4-FFF2-40B4-BE49-F238E27FC236}">
                <a16:creationId xmlns:a16="http://schemas.microsoft.com/office/drawing/2014/main" id="{E3BB19AE-7C34-284D-11BB-097A70D461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4774" y="2065867"/>
            <a:ext cx="3649662" cy="3649662"/>
          </a:xfrm>
          <a:prstGeom prst="rect">
            <a:avLst/>
          </a:prstGeom>
        </p:spPr>
      </p:pic>
      <p:pic>
        <p:nvPicPr>
          <p:cNvPr id="5" name="Picture 4">
            <a:extLst>
              <a:ext uri="{FF2B5EF4-FFF2-40B4-BE49-F238E27FC236}">
                <a16:creationId xmlns:a16="http://schemas.microsoft.com/office/drawing/2014/main" id="{EC36C105-F310-27EF-4B4D-41CB82D35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028" y="2430164"/>
            <a:ext cx="4586547" cy="2866502"/>
          </a:xfrm>
          <a:prstGeom prst="rect">
            <a:avLst/>
          </a:prstGeom>
        </p:spPr>
      </p:pic>
    </p:spTree>
    <p:extLst>
      <p:ext uri="{BB962C8B-B14F-4D97-AF65-F5344CB8AC3E}">
        <p14:creationId xmlns:p14="http://schemas.microsoft.com/office/powerpoint/2010/main" val="2282677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18EDE-A9E7-F594-6D0A-7D9043158373}"/>
              </a:ext>
            </a:extLst>
          </p:cNvPr>
          <p:cNvSpPr>
            <a:spLocks noGrp="1"/>
          </p:cNvSpPr>
          <p:nvPr>
            <p:ph type="title"/>
          </p:nvPr>
        </p:nvSpPr>
        <p:spPr>
          <a:xfrm>
            <a:off x="685801" y="598967"/>
            <a:ext cx="10131425" cy="1456267"/>
          </a:xfrm>
        </p:spPr>
        <p:txBody>
          <a:bodyPr>
            <a:normAutofit/>
          </a:bodyPr>
          <a:lstStyle/>
          <a:p>
            <a:r>
              <a:rPr lang="en-US" sz="3200" dirty="0">
                <a:latin typeface="Baskerville Old Face" panose="02020602080505020303" pitchFamily="18" charset="77"/>
              </a:rPr>
              <a:t>Results and observations </a:t>
            </a:r>
            <a:r>
              <a:rPr lang="en-US" sz="1800" dirty="0">
                <a:latin typeface="Baskerville Old Face" panose="02020602080505020303" pitchFamily="18" charset="77"/>
              </a:rPr>
              <a:t>(nab </a:t>
            </a:r>
            <a:r>
              <a:rPr lang="en-US" sz="1800" dirty="0" err="1">
                <a:latin typeface="Baskerville Old Face" panose="02020602080505020303" pitchFamily="18" charset="77"/>
              </a:rPr>
              <a:t>fft</a:t>
            </a:r>
            <a:r>
              <a:rPr lang="en-US" sz="1800" dirty="0">
                <a:latin typeface="Baskerville Old Face" panose="02020602080505020303" pitchFamily="18" charset="77"/>
              </a:rPr>
              <a:t>)</a:t>
            </a:r>
            <a:endParaRPr lang="en-US" sz="1800" dirty="0"/>
          </a:p>
        </p:txBody>
      </p:sp>
      <p:pic>
        <p:nvPicPr>
          <p:cNvPr id="4" name="Content Placeholder 3">
            <a:extLst>
              <a:ext uri="{FF2B5EF4-FFF2-40B4-BE49-F238E27FC236}">
                <a16:creationId xmlns:a16="http://schemas.microsoft.com/office/drawing/2014/main" id="{521C7B04-1487-22CF-EC11-317847EBBE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0318" y="2065867"/>
            <a:ext cx="3649662" cy="3649662"/>
          </a:xfrm>
          <a:prstGeom prst="rect">
            <a:avLst/>
          </a:prstGeom>
        </p:spPr>
      </p:pic>
      <p:pic>
        <p:nvPicPr>
          <p:cNvPr id="7" name="Picture 6">
            <a:extLst>
              <a:ext uri="{FF2B5EF4-FFF2-40B4-BE49-F238E27FC236}">
                <a16:creationId xmlns:a16="http://schemas.microsoft.com/office/drawing/2014/main" id="{10781260-FA6B-F03F-231C-A4CDFC8521E5}"/>
              </a:ext>
            </a:extLst>
          </p:cNvPr>
          <p:cNvPicPr>
            <a:picLocks noChangeAspect="1"/>
          </p:cNvPicPr>
          <p:nvPr/>
        </p:nvPicPr>
        <p:blipFill>
          <a:blip r:embed="rId3"/>
          <a:stretch>
            <a:fillRect/>
          </a:stretch>
        </p:blipFill>
        <p:spPr>
          <a:xfrm>
            <a:off x="6096000" y="2410114"/>
            <a:ext cx="4737867" cy="2961167"/>
          </a:xfrm>
          <a:prstGeom prst="rect">
            <a:avLst/>
          </a:prstGeom>
        </p:spPr>
      </p:pic>
    </p:spTree>
    <p:extLst>
      <p:ext uri="{BB962C8B-B14F-4D97-AF65-F5344CB8AC3E}">
        <p14:creationId xmlns:p14="http://schemas.microsoft.com/office/powerpoint/2010/main" val="2464969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12AF-3967-BA68-49B2-3D64A94F7C68}"/>
              </a:ext>
            </a:extLst>
          </p:cNvPr>
          <p:cNvSpPr>
            <a:spLocks noGrp="1"/>
          </p:cNvSpPr>
          <p:nvPr>
            <p:ph type="title"/>
          </p:nvPr>
        </p:nvSpPr>
        <p:spPr/>
        <p:txBody>
          <a:bodyPr>
            <a:normAutofit/>
          </a:bodyPr>
          <a:lstStyle/>
          <a:p>
            <a:r>
              <a:rPr lang="en-US" sz="3200" dirty="0">
                <a:latin typeface="Baskerville Old Face" panose="02020602080505020303" pitchFamily="18" charset="77"/>
              </a:rPr>
              <a:t>conclusion</a:t>
            </a:r>
          </a:p>
        </p:txBody>
      </p:sp>
      <p:sp>
        <p:nvSpPr>
          <p:cNvPr id="3" name="Content Placeholder 2">
            <a:extLst>
              <a:ext uri="{FF2B5EF4-FFF2-40B4-BE49-F238E27FC236}">
                <a16:creationId xmlns:a16="http://schemas.microsoft.com/office/drawing/2014/main" id="{E3BF43F0-96B9-4BD7-6416-964E890A7A35}"/>
              </a:ext>
            </a:extLst>
          </p:cNvPr>
          <p:cNvSpPr>
            <a:spLocks noGrp="1"/>
          </p:cNvSpPr>
          <p:nvPr>
            <p:ph idx="1"/>
          </p:nvPr>
        </p:nvSpPr>
        <p:spPr/>
        <p:txBody>
          <a:bodyPr>
            <a:normAutofit fontScale="92500" lnSpcReduction="20000"/>
          </a:bodyPr>
          <a:lstStyle/>
          <a:p>
            <a:r>
              <a:rPr lang="en-US" dirty="0"/>
              <a:t>In this project, we implemented and extended TFAD (Time Series Anomaly Detection) framework to evaluate its performance across multiple real-world datasets, including SMAP, MSL, NAB. The baseline model demonstrated strong performance on multivariate datasets such as MSL and NAB, where clear inter-sensor relationships enabled effective anomaly detection. However, performance on SMAP was comparatively lower due to the presence of subtle and noisy anomalies.</a:t>
            </a:r>
          </a:p>
          <a:p>
            <a:r>
              <a:rPr lang="en-US" dirty="0"/>
              <a:t>We also incorporated frequency-domain features using FFT, which provided additional insights into temporal patterns. The impact of FFT varied across datasets, it significantly improved performance on univariate data such as NAB by increasing anomaly detection capability, while offering limited gains on SMAP due to the complexity of its anomaly patterns. This highlights that the effectiveness of feature engineering techniques is highly dependent on dataset characteristics.</a:t>
            </a:r>
          </a:p>
          <a:p>
            <a:r>
              <a:rPr lang="en-US" dirty="0"/>
              <a:t>Overall, the study demonstrates that TFAD is highly effective for multivariate anomaly detection, while extensions such as FFT can further enhance performance in specific scenarios. The results emphasize the importance of dataset properties, feature representation, and threshold selection in designing robust anomaly detection systems.</a:t>
            </a:r>
          </a:p>
          <a:p>
            <a:endParaRPr lang="en-US" dirty="0"/>
          </a:p>
        </p:txBody>
      </p:sp>
    </p:spTree>
    <p:extLst>
      <p:ext uri="{BB962C8B-B14F-4D97-AF65-F5344CB8AC3E}">
        <p14:creationId xmlns:p14="http://schemas.microsoft.com/office/powerpoint/2010/main" val="2575851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E192B9-86DC-ADC5-8504-2E606F681F4B}"/>
              </a:ext>
            </a:extLst>
          </p:cNvPr>
          <p:cNvSpPr>
            <a:spLocks noGrp="1"/>
          </p:cNvSpPr>
          <p:nvPr>
            <p:ph idx="1"/>
          </p:nvPr>
        </p:nvSpPr>
        <p:spPr>
          <a:xfrm>
            <a:off x="1030287" y="1604433"/>
            <a:ext cx="10131425" cy="3649133"/>
          </a:xfrm>
        </p:spPr>
        <p:txBody>
          <a:bodyPr>
            <a:normAutofit/>
          </a:bodyPr>
          <a:lstStyle/>
          <a:p>
            <a:pPr marL="0" indent="0" algn="ctr">
              <a:buNone/>
            </a:pPr>
            <a:r>
              <a:rPr lang="en-US" sz="3600" dirty="0">
                <a:latin typeface="Baskerville Old Face" panose="02020602080505020303" pitchFamily="18" charset="77"/>
              </a:rPr>
              <a:t>THANK YOU!</a:t>
            </a:r>
          </a:p>
        </p:txBody>
      </p:sp>
    </p:spTree>
    <p:extLst>
      <p:ext uri="{BB962C8B-B14F-4D97-AF65-F5344CB8AC3E}">
        <p14:creationId xmlns:p14="http://schemas.microsoft.com/office/powerpoint/2010/main" val="25887291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{9F1DAAA3-C977-7B4F-8C3B-FDE4ED988DE6}tf10001058</Template>
  <TotalTime>4907</TotalTime>
  <Words>1068</Words>
  <Application>Microsoft Macintosh PowerPoint</Application>
  <PresentationFormat>Widescreen</PresentationFormat>
  <Paragraphs>88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Baskerville Old Face</vt:lpstr>
      <vt:lpstr>Calibri</vt:lpstr>
      <vt:lpstr>Calibri Light</vt:lpstr>
      <vt:lpstr>Times New Roman</vt:lpstr>
      <vt:lpstr>Celestial</vt:lpstr>
      <vt:lpstr>Time series anomaly detection using tfad with frequency domain enhancements</vt:lpstr>
      <vt:lpstr>What is Anomaly detection?</vt:lpstr>
      <vt:lpstr>Motivation</vt:lpstr>
      <vt:lpstr>What is TFAD?</vt:lpstr>
      <vt:lpstr>TFAD Components</vt:lpstr>
      <vt:lpstr>Time Domain representation</vt:lpstr>
      <vt:lpstr>Temporal convolution</vt:lpstr>
      <vt:lpstr>Tfad architecture</vt:lpstr>
      <vt:lpstr>Tfad Architecture</vt:lpstr>
      <vt:lpstr>Added Frequency Domain Representation</vt:lpstr>
      <vt:lpstr>WHY FFT Explicitly?</vt:lpstr>
      <vt:lpstr>Novel Contributions</vt:lpstr>
      <vt:lpstr>Challenges and future scopes (Ensemble learning)  </vt:lpstr>
      <vt:lpstr>Datasets used</vt:lpstr>
      <vt:lpstr>Results and observations (SMAP Baseline)</vt:lpstr>
      <vt:lpstr>Results and observations (Smap FFT)</vt:lpstr>
      <vt:lpstr>Results and observations (msl baseline)</vt:lpstr>
      <vt:lpstr>Results and observations (msl fft)</vt:lpstr>
      <vt:lpstr>Results and observations (nab baseline)</vt:lpstr>
      <vt:lpstr>Results and observations (nab fft)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Chinmay Gurjar</dc:creator>
  <cp:lastModifiedBy>Chinmay Gurjar</cp:lastModifiedBy>
  <cp:revision>3</cp:revision>
  <dcterms:created xsi:type="dcterms:W3CDTF">2026-04-18T23:56:22Z</dcterms:created>
  <dcterms:modified xsi:type="dcterms:W3CDTF">2026-04-27T16:40:51Z</dcterms:modified>
</cp:coreProperties>
</file>